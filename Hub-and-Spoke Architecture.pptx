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2" r:id="rId5"/>
    <p:sldId id="299" r:id="rId6"/>
    <p:sldId id="297" r:id="rId7"/>
    <p:sldId id="261" r:id="rId8"/>
    <p:sldId id="298" r:id="rId9"/>
    <p:sldId id="279" r:id="rId10"/>
    <p:sldId id="276" r:id="rId11"/>
    <p:sldId id="293" r:id="rId12"/>
    <p:sldId id="268" r:id="rId13"/>
    <p:sldId id="269" r:id="rId14"/>
    <p:sldId id="301" r:id="rId15"/>
    <p:sldId id="300"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839" autoAdjust="0"/>
  </p:normalViewPr>
  <p:slideViewPr>
    <p:cSldViewPr snapToGrid="0" showGuides="1">
      <p:cViewPr varScale="1">
        <p:scale>
          <a:sx n="61" d="100"/>
          <a:sy n="61" d="100"/>
        </p:scale>
        <p:origin x="844" y="60"/>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2/6/2026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2/6/2026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5</a:t>
            </a:fld>
            <a:endParaRPr lang="en-US" dirty="0"/>
          </a:p>
        </p:txBody>
      </p:sp>
    </p:spTree>
    <p:extLst>
      <p:ext uri="{BB962C8B-B14F-4D97-AF65-F5344CB8AC3E}">
        <p14:creationId xmlns:p14="http://schemas.microsoft.com/office/powerpoint/2010/main" val="533543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lIns="0" anchor="b" anchorCtr="0"/>
          <a:lstStyle/>
          <a:p>
            <a:r>
              <a:rPr lang="en-US" altLang="zh-CN" dirty="0"/>
              <a:t>Hub-and-Spoke Architecture</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p:txBody>
          <a:bodyPr>
            <a:normAutofit/>
          </a:bodyPr>
          <a:lstStyle/>
          <a:p>
            <a:r>
              <a:rPr lang="en-US" sz="2800" dirty="0"/>
              <a:t>Hadeel Al-</a:t>
            </a:r>
            <a:r>
              <a:rPr lang="en-US" sz="2800" dirty="0" err="1"/>
              <a:t>bajali</a:t>
            </a:r>
            <a:endParaRPr lang="en-US" sz="2800" dirty="0"/>
          </a:p>
        </p:txBody>
      </p:sp>
      <p:pic>
        <p:nvPicPr>
          <p:cNvPr id="20" name="Picture Placeholder 19">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1517" r="1517"/>
          <a:stretch/>
        </p:blipFill>
        <p:spPr>
          <a:xfrm>
            <a:off x="6760280" y="731521"/>
            <a:ext cx="4846320" cy="4997995"/>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p:txBody>
          <a:bodyPr anchor="t" anchorCtr="0"/>
          <a:lstStyle/>
          <a:p>
            <a:r>
              <a:rPr lang="en-US" dirty="0"/>
              <a:t>Topics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4555067" y="2963334"/>
            <a:ext cx="4314296" cy="2843742"/>
          </a:xfrm>
        </p:spPr>
        <p:txBody>
          <a:bodyPr anchor="t" anchorCtr="0">
            <a:normAutofit/>
          </a:bodyPr>
          <a:lstStyle/>
          <a:p>
            <a:r>
              <a:rPr lang="en-US" dirty="0"/>
              <a:t>Introductions </a:t>
            </a:r>
          </a:p>
          <a:p>
            <a:r>
              <a:rPr lang="en-US" dirty="0"/>
              <a:t>Jump VM (Security Gateway)</a:t>
            </a:r>
          </a:p>
          <a:p>
            <a:r>
              <a:rPr lang="en-US" dirty="0"/>
              <a:t>VNet Peering</a:t>
            </a:r>
          </a:p>
          <a:p>
            <a:r>
              <a:rPr lang="en-US" dirty="0"/>
              <a:t>Network Segmentation &amp; Security</a:t>
            </a:r>
          </a:p>
          <a:p>
            <a:r>
              <a:rPr lang="en-US" dirty="0"/>
              <a:t>Azure Monitor &amp; Diagnostics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136506" y="192675"/>
            <a:ext cx="5029200" cy="1005841"/>
          </a:xfrm>
        </p:spPr>
        <p:txBody>
          <a:bodyPr lIns="0" anchor="b" anchorCtr="0"/>
          <a:lstStyle/>
          <a:p>
            <a:r>
              <a:rPr lang="en-US" dirty="0"/>
              <a:t>Introduction</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5" y="734785"/>
            <a:ext cx="5345321" cy="5355772"/>
          </a:xfrm>
        </p:spPr>
        <p:txBody>
          <a:bodyPr>
            <a:normAutofit/>
          </a:bodyPr>
          <a:lstStyle/>
          <a:p>
            <a:r>
              <a:rPr lang="en-US" dirty="0"/>
              <a:t>What is Cloud computing ?</a:t>
            </a:r>
          </a:p>
          <a:p>
            <a:r>
              <a:rPr lang="en-US" dirty="0"/>
              <a:t>delivers computing services over the internet instead of on-premises infrastructure. Organizations can use on-demand resources such as servers, storage, databases, and networking, enabling faster deployment, scalability, and cost efficiency through pay-as-you-use pricing.?</a:t>
            </a:r>
          </a:p>
          <a:p>
            <a:r>
              <a:rPr lang="en-US" dirty="0"/>
              <a:t>How is Microsoft Azure ?</a:t>
            </a:r>
          </a:p>
          <a:p>
            <a:r>
              <a:rPr lang="en-US" dirty="0"/>
              <a:t>cloud computing platform by Microsoft that provides services such as compute, storage, networking, databases, and AI. It operates on a global network of data centers, allowing organizations to deploy and scale applications securely and efficiently.</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4AC89AB-0D36-5691-378F-122B728701DA}"/>
              </a:ext>
            </a:extLst>
          </p:cNvPr>
          <p:cNvPicPr>
            <a:picLocks noGrp="1" noChangeAspect="1"/>
          </p:cNvPicPr>
          <p:nvPr>
            <p:ph idx="14"/>
          </p:nvPr>
        </p:nvPicPr>
        <p:blipFill>
          <a:blip r:embed="rId2"/>
          <a:stretch>
            <a:fillRect/>
          </a:stretch>
        </p:blipFill>
        <p:spPr>
          <a:xfrm>
            <a:off x="1915886" y="707571"/>
            <a:ext cx="9736875" cy="5875473"/>
          </a:xfrm>
          <a:noFill/>
        </p:spPr>
      </p:pic>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a:xfrm>
            <a:off x="11194169" y="6217920"/>
            <a:ext cx="458592" cy="365125"/>
          </a:xfrm>
        </p:spPr>
        <p:txBody>
          <a:bodyPr anchor="ctr">
            <a:normAutofit/>
          </a:bodyPr>
          <a:lstStyle/>
          <a:p>
            <a:pPr>
              <a:spcAft>
                <a:spcPts val="600"/>
              </a:spcAft>
            </a:pPr>
            <a:fld id="{69E57DC2-970A-4B3E-BB1C-7A09969E49DF}" type="slidenum">
              <a:rPr lang="en-US" smtClean="0"/>
              <a:pPr>
                <a:spcAft>
                  <a:spcPts val="600"/>
                </a:spcAft>
              </a:pPr>
              <a:t>4</a:t>
            </a:fld>
            <a:endParaRPr lang="en-US"/>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3125368" y="154229"/>
            <a:ext cx="5029200" cy="1173499"/>
          </a:xfrm>
        </p:spPr>
        <p:txBody>
          <a:bodyPr lIns="0" anchor="t" anchorCtr="0"/>
          <a:lstStyle/>
          <a:p>
            <a:r>
              <a:rPr lang="en-US" dirty="0"/>
              <a:t>Hub-and-Spoke</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8030534" y="1563444"/>
            <a:ext cx="5029200" cy="2060028"/>
          </a:xfrm>
        </p:spPr>
        <p:txBody>
          <a:bodyPr anchor="b" anchorCtr="0">
            <a:normAutofit fontScale="92500" lnSpcReduction="20000"/>
          </a:bodyPr>
          <a:lstStyle/>
          <a:p>
            <a:r>
              <a:rPr lang="en-US" dirty="0"/>
              <a:t>Why Use Hub-and-Spoke?</a:t>
            </a:r>
          </a:p>
          <a:p>
            <a:pPr marL="342900" indent="-342900">
              <a:buFont typeface="Arial" panose="020B0604020202020204" pitchFamily="34" charset="0"/>
              <a:buChar char="•"/>
            </a:pPr>
            <a:r>
              <a:rPr lang="en-US" dirty="0"/>
              <a:t>Strong isolation </a:t>
            </a:r>
          </a:p>
          <a:p>
            <a:pPr marL="342900" indent="-342900">
              <a:buFont typeface="Arial" panose="020B0604020202020204" pitchFamily="34" charset="0"/>
              <a:buChar char="•"/>
            </a:pPr>
            <a:r>
              <a:rPr lang="en-US" dirty="0"/>
              <a:t>Centralized security</a:t>
            </a:r>
          </a:p>
          <a:p>
            <a:pPr marL="342900" indent="-342900">
              <a:buFont typeface="Arial" panose="020B0604020202020204" pitchFamily="34" charset="0"/>
              <a:buChar char="•"/>
            </a:pPr>
            <a:r>
              <a:rPr lang="en-US" dirty="0"/>
              <a:t>Easy scalability</a:t>
            </a:r>
          </a:p>
          <a:p>
            <a:pPr marL="342900" indent="-342900">
              <a:buFont typeface="Arial" panose="020B0604020202020204" pitchFamily="34" charset="0"/>
              <a:buChar char="•"/>
            </a:pPr>
            <a:r>
              <a:rPr lang="en-US" dirty="0"/>
              <a:t>Hybrid-ready</a:t>
            </a:r>
          </a:p>
        </p:txBody>
      </p:sp>
      <p:sp>
        <p:nvSpPr>
          <p:cNvPr id="7" name="TextBox 6">
            <a:extLst>
              <a:ext uri="{FF2B5EF4-FFF2-40B4-BE49-F238E27FC236}">
                <a16:creationId xmlns:a16="http://schemas.microsoft.com/office/drawing/2014/main" id="{B0105A4C-E2DD-7402-1310-EC254C641AE6}"/>
              </a:ext>
            </a:extLst>
          </p:cNvPr>
          <p:cNvSpPr txBox="1"/>
          <p:nvPr/>
        </p:nvSpPr>
        <p:spPr>
          <a:xfrm>
            <a:off x="1177158" y="1563444"/>
            <a:ext cx="4918842" cy="4131900"/>
          </a:xfrm>
          <a:prstGeom prst="rect">
            <a:avLst/>
          </a:prstGeom>
          <a:noFill/>
        </p:spPr>
        <p:txBody>
          <a:bodyPr wrap="square">
            <a:spAutoFit/>
          </a:bodyPr>
          <a:lstStyle/>
          <a:p>
            <a:pPr marL="0" indent="0" algn="l" rtl="0" eaLnBrk="1" latinLnBrk="0" hangingPunct="1">
              <a:spcBef>
                <a:spcPts val="1500"/>
              </a:spcBef>
              <a:buNone/>
            </a:pPr>
            <a:r>
              <a:rPr lang="en-US" sz="1800" b="0" kern="1200" dirty="0">
                <a:solidFill>
                  <a:srgbClr val="FFFFFF"/>
                </a:solidFill>
                <a:effectLst/>
                <a:latin typeface="Abadi" panose="020B0604020104020204" pitchFamily="34" charset="0"/>
                <a:ea typeface="+mn-ea"/>
                <a:cs typeface="+mn-cs"/>
              </a:rPr>
              <a:t>What is Hub-and-Spoke?</a:t>
            </a:r>
            <a:endParaRPr lang="en-US" dirty="0">
              <a:effectLst/>
            </a:endParaRPr>
          </a:p>
          <a:p>
            <a:pPr marL="0" indent="0" algn="l" rtl="0" eaLnBrk="1" latinLnBrk="0" hangingPunct="1">
              <a:lnSpc>
                <a:spcPct val="150000"/>
              </a:lnSpc>
              <a:spcBef>
                <a:spcPts val="1500"/>
              </a:spcBef>
              <a:buNone/>
            </a:pPr>
            <a:r>
              <a:rPr lang="en-US" sz="1800" b="0" kern="1200" dirty="0">
                <a:solidFill>
                  <a:srgbClr val="FFFFFF"/>
                </a:solidFill>
                <a:effectLst/>
                <a:latin typeface="Abadi" panose="020B0604020104020204" pitchFamily="34" charset="0"/>
                <a:ea typeface="+mn-ea"/>
                <a:cs typeface="+mn-cs"/>
              </a:rPr>
              <a:t> is a network topology in which a central virtual network (Hub VNet) connects to multiple isolated virtual networks (Spoke VNets).The main idea is to centralize control and security in the Hub, while keeping application workloads isolated within the Spokes.</a:t>
            </a:r>
          </a:p>
          <a:p>
            <a:pPr marL="0" indent="0" algn="l" rtl="0" eaLnBrk="1" latinLnBrk="0" hangingPunct="1">
              <a:lnSpc>
                <a:spcPct val="150000"/>
              </a:lnSpc>
              <a:spcBef>
                <a:spcPts val="1500"/>
              </a:spcBef>
              <a:buNone/>
            </a:pPr>
            <a:endParaRPr lang="en-US" sz="1800" b="0" kern="1200" dirty="0">
              <a:solidFill>
                <a:srgbClr val="FFFFFF"/>
              </a:solidFill>
              <a:effectLst/>
              <a:latin typeface="Abadi" panose="020B0604020104020204" pitchFamily="34" charset="0"/>
              <a:ea typeface="+mn-ea"/>
              <a:cs typeface="+mn-cs"/>
            </a:endParaRPr>
          </a:p>
          <a:p>
            <a:pPr marL="0" indent="0" algn="l" rtl="0" eaLnBrk="1" latinLnBrk="0" hangingPunct="1">
              <a:spcBef>
                <a:spcPts val="1500"/>
              </a:spcBef>
              <a:buNone/>
            </a:pPr>
            <a:endParaRPr lang="en-US" dirty="0">
              <a:effectLst/>
            </a:endParaRPr>
          </a:p>
        </p:txBody>
      </p:sp>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9144000" cy="1107790"/>
          </a:xfrm>
        </p:spPr>
        <p:txBody>
          <a:bodyPr/>
          <a:lstStyle/>
          <a:p>
            <a:r>
              <a:rPr lang="en-US" dirty="0"/>
              <a:t>Jump VM (Security Gateway)</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1229710" y="2112578"/>
            <a:ext cx="9217573" cy="4013901"/>
          </a:xfrm>
        </p:spPr>
        <p:txBody>
          <a:bodyPr>
            <a:normAutofit fontScale="92500"/>
          </a:bodyPr>
          <a:lstStyle/>
          <a:p>
            <a:pPr>
              <a:lnSpc>
                <a:spcPct val="150000"/>
              </a:lnSpc>
            </a:pPr>
            <a:r>
              <a:rPr lang="en-US" dirty="0"/>
              <a:t>A Jump VM (also called Jump Box or Bastion host) is a hardened virtual machine used as the single-entry point into private networks.</a:t>
            </a:r>
          </a:p>
          <a:p>
            <a:pPr>
              <a:lnSpc>
                <a:spcPct val="150000"/>
              </a:lnSpc>
            </a:pPr>
            <a:r>
              <a:rPr lang="en-US" dirty="0"/>
              <a:t>It is usually the only VM with a Public IP.</a:t>
            </a:r>
          </a:p>
          <a:p>
            <a:pPr>
              <a:lnSpc>
                <a:spcPct val="150000"/>
              </a:lnSpc>
            </a:pPr>
            <a:r>
              <a:rPr lang="en-US" dirty="0"/>
              <a:t> connect to it first (RDP/SSH), then access internal VMs using private IPs.</a:t>
            </a:r>
          </a:p>
          <a:p>
            <a:pPr>
              <a:lnSpc>
                <a:spcPct val="150000"/>
              </a:lnSpc>
            </a:pPr>
            <a:r>
              <a:rPr lang="en-US" dirty="0"/>
              <a:t>This design reduces the attack surface by preventing direct internet access to internal servers.</a:t>
            </a:r>
          </a:p>
          <a:p>
            <a:pPr>
              <a:lnSpc>
                <a:spcPct val="150000"/>
              </a:lnSpc>
            </a:pPr>
            <a:r>
              <a:rPr lang="en-US" dirty="0"/>
              <a:t>All administrative access can be logged and monitored from one place.</a:t>
            </a:r>
          </a:p>
          <a:p>
            <a:pPr>
              <a:lnSpc>
                <a:spcPct val="150000"/>
              </a:lnSpc>
            </a:pPr>
            <a:r>
              <a:rPr lang="en-US" dirty="0"/>
              <a:t>Why it matters: Centralized access control + easier auditing + lower risk.</a:t>
            </a: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662152" y="405699"/>
            <a:ext cx="3931920" cy="1002687"/>
          </a:xfrm>
        </p:spPr>
        <p:txBody>
          <a:bodyPr anchor="b" anchorCtr="0"/>
          <a:lstStyle/>
          <a:p>
            <a:r>
              <a:rPr lang="en-US" dirty="0"/>
              <a:t>VNet Peering</a:t>
            </a: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8" name="Content Placeholder 7">
            <a:extLst>
              <a:ext uri="{FF2B5EF4-FFF2-40B4-BE49-F238E27FC236}">
                <a16:creationId xmlns:a16="http://schemas.microsoft.com/office/drawing/2014/main" id="{21E10970-CB95-7248-C190-D1D965B74525}"/>
              </a:ext>
            </a:extLst>
          </p:cNvPr>
          <p:cNvSpPr>
            <a:spLocks noGrp="1"/>
          </p:cNvSpPr>
          <p:nvPr>
            <p:ph idx="1"/>
          </p:nvPr>
        </p:nvSpPr>
        <p:spPr>
          <a:xfrm>
            <a:off x="1208690" y="1900271"/>
            <a:ext cx="8776138" cy="3749040"/>
          </a:xfrm>
        </p:spPr>
        <p:txBody>
          <a:bodyPr>
            <a:normAutofit fontScale="92500"/>
          </a:bodyPr>
          <a:lstStyle/>
          <a:p>
            <a:pPr>
              <a:lnSpc>
                <a:spcPct val="150000"/>
              </a:lnSpc>
            </a:pPr>
            <a:r>
              <a:rPr lang="en-US" dirty="0"/>
              <a:t>VNet Peering connects two Azure virtual networks privately using Microsoft’s backbone network.</a:t>
            </a:r>
          </a:p>
          <a:p>
            <a:pPr>
              <a:lnSpc>
                <a:spcPct val="150000"/>
              </a:lnSpc>
            </a:pPr>
            <a:r>
              <a:rPr lang="en-US" dirty="0"/>
              <a:t>Provides low-latency, high-bandwidth connectivity.</a:t>
            </a:r>
          </a:p>
          <a:p>
            <a:pPr>
              <a:lnSpc>
                <a:spcPct val="150000"/>
              </a:lnSpc>
            </a:pPr>
            <a:r>
              <a:rPr lang="en-US" dirty="0"/>
              <a:t>Traffic does not traverse the public internet.</a:t>
            </a:r>
          </a:p>
          <a:p>
            <a:pPr>
              <a:lnSpc>
                <a:spcPct val="150000"/>
              </a:lnSpc>
            </a:pPr>
            <a:r>
              <a:rPr lang="en-US" dirty="0"/>
              <a:t>Peering is non-transitive: Spoke A can talk to Hub Spoke B can talk to Hub Spoke A cannot talk to Spoke B unless explicitly routed</a:t>
            </a:r>
          </a:p>
          <a:p>
            <a:pPr>
              <a:lnSpc>
                <a:spcPct val="150000"/>
              </a:lnSpc>
            </a:pPr>
            <a:r>
              <a:rPr lang="en-US" dirty="0"/>
              <a:t>Why it matters :Secure and efficient connectivity while preserving network boundaries.</a:t>
            </a:r>
          </a:p>
        </p:txBody>
      </p:sp>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578068" y="182879"/>
            <a:ext cx="7819697" cy="1110943"/>
          </a:xfrm>
        </p:spPr>
        <p:txBody>
          <a:bodyPr/>
          <a:lstStyle/>
          <a:p>
            <a:r>
              <a:rPr lang="en-US" dirty="0"/>
              <a:t>Network Segmentation &amp; Security</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1986455"/>
            <a:ext cx="7483365" cy="3774265"/>
          </a:xfrm>
        </p:spPr>
        <p:txBody>
          <a:bodyPr>
            <a:normAutofit/>
          </a:bodyPr>
          <a:lstStyle/>
          <a:p>
            <a:pPr marL="285750" indent="-285750">
              <a:lnSpc>
                <a:spcPct val="150000"/>
              </a:lnSpc>
              <a:buFont typeface="Arial" panose="020B0604020202020204" pitchFamily="34" charset="0"/>
              <a:buChar char="•"/>
            </a:pPr>
            <a:r>
              <a:rPr lang="en-US" dirty="0"/>
              <a:t>Network segmentation means separating workloads into different networks or subnets based on their role and sensitivity. Web servers, databases, and workstations are placed in separate spokes or subnets. Access between segments is controlled using NSGs, route tables, and firewalls. </a:t>
            </a:r>
          </a:p>
          <a:p>
            <a:pPr marL="285750" indent="-285750">
              <a:lnSpc>
                <a:spcPct val="150000"/>
              </a:lnSpc>
              <a:buFont typeface="Arial" panose="020B0604020202020204" pitchFamily="34" charset="0"/>
              <a:buChar char="•"/>
            </a:pPr>
            <a:r>
              <a:rPr lang="en-US" dirty="0"/>
              <a:t>Follows Least Privilege and Zero Trust principles.</a:t>
            </a:r>
          </a:p>
          <a:p>
            <a:pPr marL="285750" indent="-285750">
              <a:lnSpc>
                <a:spcPct val="150000"/>
              </a:lnSpc>
              <a:buFont typeface="Arial" panose="020B0604020202020204" pitchFamily="34" charset="0"/>
              <a:buChar char="•"/>
            </a:pPr>
            <a:r>
              <a:rPr lang="en-US" dirty="0"/>
              <a:t>Why it matters: If one segment is compromised, the attacker cannot freely move across the network (limited blast radius).</a:t>
            </a: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418214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2039004" y="346841"/>
            <a:ext cx="7956332" cy="1061544"/>
          </a:xfrm>
          <a:noFill/>
        </p:spPr>
        <p:txBody>
          <a:bodyPr anchor="b" anchorCtr="0">
            <a:noAutofit/>
          </a:bodyPr>
          <a:lstStyle/>
          <a:p>
            <a:r>
              <a:rPr lang="en-US" dirty="0"/>
              <a:t>Azure Monitor &amp; Diagnostics</a:t>
            </a:r>
          </a:p>
        </p:txBody>
      </p:sp>
      <p:sp>
        <p:nvSpPr>
          <p:cNvPr id="10" name="Content Placeholder 9">
            <a:extLst>
              <a:ext uri="{FF2B5EF4-FFF2-40B4-BE49-F238E27FC236}">
                <a16:creationId xmlns:a16="http://schemas.microsoft.com/office/drawing/2014/main" id="{19DA784D-F56F-1224-707E-9F882C4EB8A1}"/>
              </a:ext>
            </a:extLst>
          </p:cNvPr>
          <p:cNvSpPr>
            <a:spLocks noGrp="1"/>
          </p:cNvSpPr>
          <p:nvPr>
            <p:ph idx="14"/>
          </p:nvPr>
        </p:nvSpPr>
        <p:spPr>
          <a:xfrm>
            <a:off x="1492468" y="1897118"/>
            <a:ext cx="8534400" cy="4320802"/>
          </a:xfrm>
        </p:spPr>
        <p:txBody>
          <a:bodyPr>
            <a:normAutofit fontScale="92500"/>
          </a:bodyPr>
          <a:lstStyle/>
          <a:p>
            <a:pPr>
              <a:lnSpc>
                <a:spcPct val="150000"/>
              </a:lnSpc>
            </a:pPr>
            <a:r>
              <a:rPr lang="en-US" dirty="0"/>
              <a:t>Azure Monitor provides centralized visibility into infrastructure and network activity.</a:t>
            </a:r>
          </a:p>
          <a:p>
            <a:pPr>
              <a:lnSpc>
                <a:spcPct val="150000"/>
              </a:lnSpc>
            </a:pPr>
            <a:r>
              <a:rPr lang="en-US" dirty="0"/>
              <a:t>Collects metrics (CPU, memory, network usage).</a:t>
            </a:r>
          </a:p>
          <a:p>
            <a:pPr>
              <a:lnSpc>
                <a:spcPct val="150000"/>
              </a:lnSpc>
            </a:pPr>
            <a:r>
              <a:rPr lang="en-US" dirty="0"/>
              <a:t>Collects logs (VM activity, network flows, security events).</a:t>
            </a:r>
          </a:p>
          <a:p>
            <a:pPr>
              <a:lnSpc>
                <a:spcPct val="150000"/>
              </a:lnSpc>
            </a:pPr>
            <a:r>
              <a:rPr lang="en-US" dirty="0"/>
              <a:t>Uses Log Analytics to query and analyze data.</a:t>
            </a:r>
          </a:p>
          <a:p>
            <a:pPr>
              <a:lnSpc>
                <a:spcPct val="150000"/>
              </a:lnSpc>
            </a:pPr>
            <a:r>
              <a:rPr lang="en-US" dirty="0"/>
              <a:t> Helps detect: Failed login attemptsUnusual traffic patterns Performance and availability issues </a:t>
            </a:r>
          </a:p>
          <a:p>
            <a:pPr>
              <a:lnSpc>
                <a:spcPct val="150000"/>
              </a:lnSpc>
            </a:pPr>
            <a:r>
              <a:rPr lang="en-US" dirty="0"/>
              <a:t>Why it matters: Security without monitoring is blind. Monitoring enables detection, investigation, and response.</a:t>
            </a:r>
          </a:p>
        </p:txBody>
      </p:sp>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12"/>
          </p:nvPr>
        </p:nvSpPr>
        <p:spPr/>
        <p:txBody>
          <a:bodyPr/>
          <a:lstStyle/>
          <a:p>
            <a:fld id="{CBD12358-51D2-46B3-9BDE-DF29528B9454}" type="slidenum">
              <a:rPr lang="en-US" smtClean="0"/>
              <a:t>9</a:t>
            </a:fld>
            <a:endParaRPr lang="en-US" dirty="0"/>
          </a:p>
        </p:txBody>
      </p:sp>
    </p:spTree>
    <p:extLst>
      <p:ext uri="{BB962C8B-B14F-4D97-AF65-F5344CB8AC3E}">
        <p14:creationId xmlns:p14="http://schemas.microsoft.com/office/powerpoint/2010/main" val="42599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735723" y="578068"/>
            <a:ext cx="8986345" cy="932268"/>
          </a:xfrm>
          <a:noFill/>
        </p:spPr>
        <p:txBody>
          <a:bodyPr anchor="b" anchorCtr="0">
            <a:noAutofit/>
          </a:bodyPr>
          <a:lstStyle/>
          <a:p>
            <a:r>
              <a:rPr lang="en-US" dirty="0"/>
              <a:t>Azure Monitor &amp; Diagnostics</a:t>
            </a:r>
          </a:p>
        </p:txBody>
      </p:sp>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12"/>
          </p:nvPr>
        </p:nvSpPr>
        <p:spPr/>
        <p:txBody>
          <a:bodyPr/>
          <a:lstStyle/>
          <a:p>
            <a:fld id="{CBD12358-51D2-46B3-9BDE-DF29528B9454}" type="slidenum">
              <a:rPr lang="en-US" smtClean="0"/>
              <a:t>10</a:t>
            </a:fld>
            <a:endParaRPr lang="en-US" dirty="0"/>
          </a:p>
        </p:txBody>
      </p:sp>
      <p:pic>
        <p:nvPicPr>
          <p:cNvPr id="7" name="Picture 6">
            <a:extLst>
              <a:ext uri="{FF2B5EF4-FFF2-40B4-BE49-F238E27FC236}">
                <a16:creationId xmlns:a16="http://schemas.microsoft.com/office/drawing/2014/main" id="{C5A5822F-E0D7-E340-C555-0C4D58823D53}"/>
              </a:ext>
            </a:extLst>
          </p:cNvPr>
          <p:cNvPicPr>
            <a:picLocks noChangeAspect="1"/>
          </p:cNvPicPr>
          <p:nvPr/>
        </p:nvPicPr>
        <p:blipFill>
          <a:blip r:embed="rId2"/>
          <a:srcRect/>
          <a:stretch/>
        </p:blipFill>
        <p:spPr>
          <a:xfrm>
            <a:off x="6327228" y="1744925"/>
            <a:ext cx="5730527" cy="4838120"/>
          </a:xfrm>
          <a:prstGeom prst="rect">
            <a:avLst/>
          </a:prstGeom>
        </p:spPr>
      </p:pic>
      <p:pic>
        <p:nvPicPr>
          <p:cNvPr id="11" name="Content Placeholder 10">
            <a:extLst>
              <a:ext uri="{FF2B5EF4-FFF2-40B4-BE49-F238E27FC236}">
                <a16:creationId xmlns:a16="http://schemas.microsoft.com/office/drawing/2014/main" id="{FCBBBE72-C23D-5143-02FF-3EC110EA0418}"/>
              </a:ext>
            </a:extLst>
          </p:cNvPr>
          <p:cNvPicPr>
            <a:picLocks noGrp="1" noChangeAspect="1"/>
          </p:cNvPicPr>
          <p:nvPr>
            <p:ph idx="14"/>
          </p:nvPr>
        </p:nvPicPr>
        <p:blipFill>
          <a:blip r:embed="rId3"/>
          <a:stretch>
            <a:fillRect/>
          </a:stretch>
        </p:blipFill>
        <p:spPr>
          <a:xfrm>
            <a:off x="134245" y="1744925"/>
            <a:ext cx="6081498" cy="4838120"/>
          </a:xfrm>
        </p:spPr>
      </p:pic>
    </p:spTree>
    <p:extLst>
      <p:ext uri="{BB962C8B-B14F-4D97-AF65-F5344CB8AC3E}">
        <p14:creationId xmlns:p14="http://schemas.microsoft.com/office/powerpoint/2010/main" val="3604630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F70FB7-3F84-6BFA-C2E6-FE2727DEEBA6}"/>
              </a:ext>
            </a:extLst>
          </p:cNvPr>
          <p:cNvSpPr>
            <a:spLocks noGrp="1"/>
          </p:cNvSpPr>
          <p:nvPr>
            <p:ph type="sldNum" sz="quarter" idx="12"/>
          </p:nvPr>
        </p:nvSpPr>
        <p:spPr/>
        <p:txBody>
          <a:bodyPr/>
          <a:lstStyle/>
          <a:p>
            <a:fld id="{CBD12358-51D2-46B3-9BDE-DF29528B9454}" type="slidenum">
              <a:rPr lang="en-US" smtClean="0"/>
              <a:t>11</a:t>
            </a:fld>
            <a:endParaRPr lang="en-US" dirty="0"/>
          </a:p>
        </p:txBody>
      </p:sp>
      <p:pic>
        <p:nvPicPr>
          <p:cNvPr id="6" name="Picture 5">
            <a:extLst>
              <a:ext uri="{FF2B5EF4-FFF2-40B4-BE49-F238E27FC236}">
                <a16:creationId xmlns:a16="http://schemas.microsoft.com/office/drawing/2014/main" id="{FE9A5C39-4EDB-6025-2E61-AE482C91F15E}"/>
              </a:ext>
            </a:extLst>
          </p:cNvPr>
          <p:cNvPicPr>
            <a:picLocks noChangeAspect="1"/>
          </p:cNvPicPr>
          <p:nvPr/>
        </p:nvPicPr>
        <p:blipFill>
          <a:blip r:embed="rId2"/>
          <a:stretch>
            <a:fillRect/>
          </a:stretch>
        </p:blipFill>
        <p:spPr>
          <a:xfrm>
            <a:off x="37812" y="2068286"/>
            <a:ext cx="11922959" cy="2784253"/>
          </a:xfrm>
          <a:prstGeom prst="rect">
            <a:avLst/>
          </a:prstGeom>
        </p:spPr>
      </p:pic>
    </p:spTree>
    <p:extLst>
      <p:ext uri="{BB962C8B-B14F-4D97-AF65-F5344CB8AC3E}">
        <p14:creationId xmlns:p14="http://schemas.microsoft.com/office/powerpoint/2010/main" val="3922379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1050036" y="2165130"/>
            <a:ext cx="4376058" cy="1631881"/>
          </a:xfrm>
        </p:spPr>
        <p:txBody>
          <a:bodyPr anchor="b">
            <a:normAutofit/>
          </a:bodyPr>
          <a:lstStyle/>
          <a:p>
            <a:pPr algn="ctr"/>
            <a:r>
              <a:rPr lang="en-US" dirty="0"/>
              <a:t>Git Hub </a:t>
            </a:r>
          </a:p>
        </p:txBody>
      </p:sp>
      <p:sp>
        <p:nvSpPr>
          <p:cNvPr id="12" name="Slide Number Placeholder 4">
            <a:extLst>
              <a:ext uri="{FF2B5EF4-FFF2-40B4-BE49-F238E27FC236}">
                <a16:creationId xmlns:a16="http://schemas.microsoft.com/office/drawing/2014/main" id="{C76385B5-5117-C4F9-14E6-D1CC9AD7CA77}"/>
              </a:ext>
            </a:extLst>
          </p:cNvPr>
          <p:cNvSpPr>
            <a:spLocks noGrp="1"/>
          </p:cNvSpPr>
          <p:nvPr>
            <p:ph type="sldNum" sz="quarter" idx="12"/>
          </p:nvPr>
        </p:nvSpPr>
        <p:spPr>
          <a:xfrm>
            <a:off x="11194169" y="6217920"/>
            <a:ext cx="458592" cy="365125"/>
          </a:xfrm>
        </p:spPr>
        <p:txBody>
          <a:bodyPr/>
          <a:lstStyle/>
          <a:p>
            <a:pPr>
              <a:spcAft>
                <a:spcPts val="600"/>
              </a:spcAft>
            </a:pPr>
            <a:fld id="{CBD12358-51D2-46B3-9BDE-DF29528B9454}" type="slidenum">
              <a:rPr lang="en-US" smtClean="0"/>
              <a:pPr>
                <a:spcAft>
                  <a:spcPts val="600"/>
                </a:spcAft>
              </a:pPr>
              <a:t>12</a:t>
            </a:fld>
            <a:endParaRPr lang="en-US"/>
          </a:p>
        </p:txBody>
      </p:sp>
      <p:pic>
        <p:nvPicPr>
          <p:cNvPr id="11" name="Content Placeholder 10">
            <a:extLst>
              <a:ext uri="{FF2B5EF4-FFF2-40B4-BE49-F238E27FC236}">
                <a16:creationId xmlns:a16="http://schemas.microsoft.com/office/drawing/2014/main" id="{5473D9B1-B5C6-8472-FD8B-88D465BAD749}"/>
              </a:ext>
            </a:extLst>
          </p:cNvPr>
          <p:cNvPicPr>
            <a:picLocks noGrp="1" noChangeAspect="1"/>
          </p:cNvPicPr>
          <p:nvPr>
            <p:ph idx="1"/>
          </p:nvPr>
        </p:nvPicPr>
        <p:blipFill>
          <a:blip r:embed="rId2"/>
          <a:stretch>
            <a:fillRect/>
          </a:stretch>
        </p:blipFill>
        <p:spPr>
          <a:xfrm>
            <a:off x="5930106" y="731838"/>
            <a:ext cx="5211762" cy="5211762"/>
          </a:xfrm>
        </p:spPr>
      </p:pic>
    </p:spTree>
    <p:extLst>
      <p:ext uri="{BB962C8B-B14F-4D97-AF65-F5344CB8AC3E}">
        <p14:creationId xmlns:p14="http://schemas.microsoft.com/office/powerpoint/2010/main" val="1148227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3846786" y="2137708"/>
            <a:ext cx="7015655" cy="1240221"/>
          </a:xfrm>
        </p:spPr>
        <p:txBody>
          <a:bodyPr>
            <a:normAutofit/>
          </a:bodyPr>
          <a:lstStyle/>
          <a:p>
            <a:pPr algn="ctr"/>
            <a:r>
              <a:rPr lang="en-US" sz="4800" dirty="0"/>
              <a:t>Thank you</a:t>
            </a:r>
            <a:r>
              <a:rPr lang="ar-JO" sz="4800" dirty="0"/>
              <a:t> </a:t>
            </a:r>
            <a:endParaRPr lang="en-US" sz="4800" dirty="0"/>
          </a:p>
        </p:txBody>
      </p:sp>
      <p:pic>
        <p:nvPicPr>
          <p:cNvPr id="3" name="Picture 2">
            <a:extLst>
              <a:ext uri="{FF2B5EF4-FFF2-40B4-BE49-F238E27FC236}">
                <a16:creationId xmlns:a16="http://schemas.microsoft.com/office/drawing/2014/main" id="{E6C2E783-25DF-AEFE-109E-30852A5FBEB4}"/>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68726" y1="61538" x2="67181" y2="59487"/>
                        <a14:foregroundMark x1="67181" y1="59487" x2="67181" y2="59487"/>
                        <a14:foregroundMark x1="67181" y1="59487" x2="71042" y2="60513"/>
                        <a14:foregroundMark x1="71042" y1="60513" x2="71042" y2="60513"/>
                        <a14:foregroundMark x1="64865" y1="65641" x2="65637" y2="65641"/>
                        <a14:foregroundMark x1="40154" y1="77949" x2="33591" y2="46154"/>
                        <a14:foregroundMark x1="33591" y1="46154" x2="37452" y2="75385"/>
                        <a14:foregroundMark x1="37452" y1="75385" x2="31660" y2="54359"/>
                      </a14:backgroundRemoval>
                    </a14:imgEffect>
                    <a14:imgEffect>
                      <a14:sharpenSoften amount="-25000"/>
                    </a14:imgEffect>
                  </a14:imgLayer>
                </a14:imgProps>
              </a:ext>
            </a:extLst>
          </a:blip>
          <a:stretch>
            <a:fillRect/>
          </a:stretch>
        </p:blipFill>
        <p:spPr>
          <a:xfrm>
            <a:off x="8586953" y="2137708"/>
            <a:ext cx="2465824" cy="1680175"/>
          </a:xfrm>
          <a:prstGeom prst="rect">
            <a:avLst/>
          </a:prstGeom>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587</TotalTime>
  <Words>533</Words>
  <Application>Microsoft Office PowerPoint</Application>
  <PresentationFormat>Widescreen</PresentationFormat>
  <Paragraphs>66</Paragraphs>
  <Slides>13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等线</vt:lpstr>
      <vt:lpstr>Abadi</vt:lpstr>
      <vt:lpstr>Arial</vt:lpstr>
      <vt:lpstr>Calibri</vt:lpstr>
      <vt:lpstr>Posterama</vt:lpstr>
      <vt:lpstr>Posterama Text SemiBold</vt:lpstr>
      <vt:lpstr>Custom</vt:lpstr>
      <vt:lpstr>Hub-and-Spoke Architecture</vt:lpstr>
      <vt:lpstr>Topics </vt:lpstr>
      <vt:lpstr>Introduction</vt:lpstr>
      <vt:lpstr>PowerPoint Presentation</vt:lpstr>
      <vt:lpstr>Hub-and-Spoke</vt:lpstr>
      <vt:lpstr>Jump VM (Security Gateway)</vt:lpstr>
      <vt:lpstr>VNet Peering</vt:lpstr>
      <vt:lpstr>Network Segmentation &amp; Security</vt:lpstr>
      <vt:lpstr>Azure Monitor &amp; Diagnostics</vt:lpstr>
      <vt:lpstr>Azure Monitor &amp; Diagnostics</vt:lpstr>
      <vt:lpstr>PowerPoint Presentation</vt:lpstr>
      <vt:lpstr>Git Hub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Hadeel Mohamoud Al Bajali</dc:creator>
  <cp:lastModifiedBy>Hadeel Mohamoud Al Bajali</cp:lastModifiedBy>
  <cp:revision>2</cp:revision>
  <dcterms:created xsi:type="dcterms:W3CDTF">2026-02-06T18:24:58Z</dcterms:created>
  <dcterms:modified xsi:type="dcterms:W3CDTF">2026-02-07T04:12:29Z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